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Индекс KASE, пунктов</c:v>
                </c:pt>
              </c:strCache>
            </c:strRef>
          </c:tx>
          <c:spPr>
            <a:solidFill>
              <a:srgbClr val="1C6DD0"/>
            </a:solidFill>
            <a:ln w="38100" cap="flat">
              <a:solidFill>
                <a:srgbClr val="1C6D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6DD0"/>
              </a:solidFill>
              <a:ln w="9525" cap="flat">
                <a:solidFill>
                  <a:srgbClr val="1C6D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май '25</c:v>
                  </c:pt>
                  <c:pt idx="1">
                    <c:v>сен '25</c:v>
                  </c:pt>
                  <c:pt idx="2">
                    <c:v>окт '25</c:v>
                  </c:pt>
                  <c:pt idx="3">
                    <c:v>дек '25</c:v>
                  </c:pt>
                  <c:pt idx="4">
                    <c:v>янв '26</c:v>
                  </c:pt>
                  <c:pt idx="5">
                    <c:v>мар '26</c:v>
                  </c:pt>
                  <c:pt idx="6">
                    <c:v>июн 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5542</c:v>
                </c:pt>
                <c:pt idx="1">
                  <c:v>7149</c:v>
                </c:pt>
                <c:pt idx="2">
                  <c:v>7212</c:v>
                </c:pt>
                <c:pt idx="3">
                  <c:v>7031</c:v>
                </c:pt>
                <c:pt idx="4">
                  <c:v>7100</c:v>
                </c:pt>
                <c:pt idx="5">
                  <c:v>8039</c:v>
                </c:pt>
                <c:pt idx="6">
                  <c:v>7728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2A4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0"/>
          <c:min val="5000"/>
        </c:scaling>
        <c:delete val="0"/>
        <c:axPos val="l"/>
        <c:majorGridlines>
          <c:spPr>
            <a:ln w="6350" cap="flat">
              <a:solidFill>
                <a:srgbClr val="EB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Доходность, %</c:v>
                </c:pt>
              </c:strCache>
            </c:strRef>
          </c:tx>
          <c:spPr>
            <a:solidFill>
              <a:srgbClr val="1C6D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HSBK</c:v>
                  </c:pt>
                  <c:pt idx="1">
                    <c:v>CCBN</c:v>
                  </c:pt>
                  <c:pt idx="2">
                    <c:v>KSPI</c:v>
                  </c:pt>
                  <c:pt idx="3">
                    <c:v>KMGZ</c:v>
                  </c:pt>
                  <c:pt idx="4">
                    <c:v>KZAP</c:v>
                  </c:pt>
                  <c:pt idx="5">
                    <c:v>KCEL</c:v>
                  </c:pt>
                  <c:pt idx="6">
                    <c:v>AIRA</c:v>
                  </c:pt>
                  <c:pt idx="7">
                    <c:v>KZTK</c:v>
                  </c:pt>
                  <c:pt idx="8">
                    <c:v>KEGC</c:v>
                  </c:pt>
                  <c:pt idx="9">
                    <c:v>KZTO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14</c:v>
                </c:pt>
                <c:pt idx="5">
                  <c:v>11</c:v>
                </c:pt>
                <c:pt idx="6">
                  <c:v>6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B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торгов, млрд ₸</c:v>
                </c:pt>
              </c:strCache>
            </c:strRef>
          </c:tx>
          <c:spPr>
            <a:solidFill>
              <a:srgbClr val="17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HSBK</c:v>
                  </c:pt>
                  <c:pt idx="1">
                    <c:v>CCBN</c:v>
                  </c:pt>
                  <c:pt idx="2">
                    <c:v>AIRA</c:v>
                  </c:pt>
                  <c:pt idx="3">
                    <c:v>KZAP</c:v>
                  </c:pt>
                  <c:pt idx="4">
                    <c:v>KCEL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</c:v>
                </c:pt>
                <c:pt idx="1">
                  <c:v>6.2</c:v>
                </c:pt>
                <c:pt idx="2">
                  <c:v>3.3</c:v>
                </c:pt>
                <c:pt idx="3">
                  <c:v>1.9</c:v>
                </c:pt>
                <c:pt idx="4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B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280160"/>
            <a:ext cx="822960" cy="292608"/>
          </a:xfrm>
          <a:prstGeom prst="rect">
            <a:avLst/>
          </a:prstGeom>
          <a:solidFill>
            <a:srgbClr val="16365C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783080"/>
            <a:ext cx="822960" cy="292608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2286000"/>
            <a:ext cx="822960" cy="292608"/>
          </a:xfrm>
          <a:prstGeom prst="rect">
            <a:avLst/>
          </a:prstGeom>
          <a:solidFill>
            <a:srgbClr val="16365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2788920"/>
            <a:ext cx="822960" cy="292608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3291840"/>
            <a:ext cx="822960" cy="292608"/>
          </a:xfrm>
          <a:prstGeom prst="rect">
            <a:avLst/>
          </a:prstGeom>
          <a:solidFill>
            <a:srgbClr val="16365C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3794760"/>
            <a:ext cx="822960" cy="292608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КАЗАХСТАНСКАЯ ФОНДОВАЯ БИРЖА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акций KASE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Обзор торгуемых акций за последний год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KASE · </a:t>
            </a:r>
            <a:pPr indent="0" marL="0">
              <a:buNone/>
            </a:pPr>
            <a:r>
              <a:rPr lang="en-US" sz="16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+36,2% за 52 недели</a:t>
            </a:r>
            <a:pPr indent="0" marL="0">
              <a:buNone/>
            </a:pPr>
            <a:r>
              <a:rPr lang="en-US" sz="1600" dirty="0">
                <a:solidFill>
                  <a:srgbClr val="9D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капитализация рынка </a:t>
            </a:r>
            <a:pPr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$90 млрд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2025 год – середина 2026 года   ·   Данные: KASE, AFK, открытые источники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528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итоги года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Индекс, капитализация, число эмитентов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17520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449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индекса KASE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4107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Траектория за 12 месяцев и максимумы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96512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123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Представительский список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48970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голубых фишек индекса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175504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5920" y="52029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акций за год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55686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и аутсайдеры роста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828800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938528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406640" y="1965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Дивиденды и доходность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06640" y="2331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сколько платит инвестору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907792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017520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406640" y="30449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Ликвидность и объёмы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34107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торгуемые бумаги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986784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96512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406640" y="4123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эмитентов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06640" y="448970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· сырьё · телеком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5065776"/>
            <a:ext cx="539496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175504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6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406640" y="52029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Расширенный рынок и риски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06640" y="55686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пределами индекса, выводы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итоги года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141732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2082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+36,2%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" y="269656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индекса KASE за 52 недели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874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874520"/>
            <a:ext cx="91440" cy="141732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202082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7 728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57016" y="269656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 — значение индекса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874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874520"/>
            <a:ext cx="91440" cy="14173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202082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8 039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64224" y="269656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максимум (март 2026)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70264" y="1874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70264" y="1874520"/>
            <a:ext cx="91440" cy="1417320"/>
          </a:xfrm>
          <a:prstGeom prst="rect">
            <a:avLst/>
          </a:prstGeom>
          <a:solidFill>
            <a:srgbClr val="178A8A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202082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$90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71432" y="269656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— капитализация рынка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20440"/>
            <a:ext cx="91440" cy="141732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66674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+26,1%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49808" y="434248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индекса за 2025 год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55848" y="3520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3520440"/>
            <a:ext cx="91440" cy="141732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28" name="Text 26"/>
          <p:cNvSpPr/>
          <p:nvPr/>
        </p:nvSpPr>
        <p:spPr>
          <a:xfrm>
            <a:off x="3557016" y="366674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557016" y="434248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доходность с дивидендами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63056" y="3520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520440"/>
            <a:ext cx="91440" cy="141732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366674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/ 76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64224" y="434248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 акций / эмитентов в списках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70264" y="352044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70264" y="3520440"/>
            <a:ext cx="91440" cy="14173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6" name="Text 34"/>
          <p:cNvSpPr/>
          <p:nvPr/>
        </p:nvSpPr>
        <p:spPr>
          <a:xfrm>
            <a:off x="9171432" y="3666744"/>
            <a:ext cx="2286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71432" y="4342486"/>
            <a:ext cx="22860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физлиц в обороте по акциям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285232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 </a:t>
            </a:r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акций KASE завершил год уверенным ростом на фоне сильных финансовых результатов эмитентов, высоких дивидендов и рекордной капитализации. Основной вклад внесли банки и сырьевые компании.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индекса KASE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уровни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286000"/>
            <a:ext cx="3657600" cy="82296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0" y="2286000"/>
            <a:ext cx="82296" cy="82296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52 недель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83880" y="27249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5 542 пункта · май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3246120"/>
            <a:ext cx="3657600" cy="82296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3246120"/>
            <a:ext cx="82296" cy="82296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14" name="Text 11"/>
          <p:cNvSpPr/>
          <p:nvPr/>
        </p:nvSpPr>
        <p:spPr>
          <a:xfrm>
            <a:off x="8183880" y="33558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2025 года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83880" y="36850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7 031 пункт · +26,1% за год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4206240"/>
            <a:ext cx="3657600" cy="82296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4206240"/>
            <a:ext cx="82296" cy="82296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8" name="Text 15"/>
          <p:cNvSpPr/>
          <p:nvPr/>
        </p:nvSpPr>
        <p:spPr>
          <a:xfrm>
            <a:off x="8183880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максимум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83880" y="4645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8 039 пунктов · март 2026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5166360"/>
            <a:ext cx="3657600" cy="82296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55280" y="5166360"/>
            <a:ext cx="82296" cy="822960"/>
          </a:xfrm>
          <a:prstGeom prst="rect">
            <a:avLst/>
          </a:prstGeom>
          <a:solidFill>
            <a:srgbClr val="178A8A"/>
          </a:solidFill>
          <a:ln/>
        </p:spPr>
      </p:sp>
      <p:sp>
        <p:nvSpPr>
          <p:cNvPr id="22" name="Text 19"/>
          <p:cNvSpPr/>
          <p:nvPr/>
        </p:nvSpPr>
        <p:spPr>
          <a:xfrm>
            <a:off x="8183880" y="5276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уровень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83880" y="5605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7 728 пунктов · −3,9% от пика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приведена по отчётным ключевым уровням; промежуточные точки — ориентировочно.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Представительский список индекса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1828800"/>
                <a:gridCol w="1828800"/>
                <a:gridCol w="1463040"/>
                <a:gridCol w="14904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Тикер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Компания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Цена, 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день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Дох.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Народный банк (Halyk)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Финансы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378,85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Kaspi.kz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Финтех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Банк ЦентрКредит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Финансы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4 630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KMGZ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КазМунайГаз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Нефть и газ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Казатомпром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Astana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Авиа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659,99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KZTK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Казахтелеком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Энергетика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1 440,40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5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КазТрансОйл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Транспорт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+2%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взвешен по капитализации с учётом акций в свободном обращении (free-float). Цены — на дату обзора.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Доходность акций за 2025 год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7498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828800"/>
            <a:ext cx="3319272" cy="2011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Лидеры роста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0" y="2377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Halyk Bank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+16%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и финтех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Казатомпром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(рост цен на уран)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21040" y="4069080"/>
            <a:ext cx="3319272" cy="205740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Отстающие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03920" y="4617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KEGOC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+3%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Казахтелеком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КазТрансОйл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(снижение дивидендов)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Дивиденды и доходность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137160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2082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из 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" y="267004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акций индекса платят дивиденды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87452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874520"/>
            <a:ext cx="91440" cy="137160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202082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07408" y="267004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див. доходность Halyk — лидер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7764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1874520"/>
            <a:ext cx="91440" cy="1371600"/>
          </a:xfrm>
          <a:prstGeom prst="rect">
            <a:avLst/>
          </a:prstGeom>
          <a:solidFill>
            <a:srgbClr val="17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065008" y="2020824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65008" y="2670048"/>
            <a:ext cx="3456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 доходность в тенге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11091672" cy="2651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11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знать о выплатах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Halyk Bank (HSBK)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самая дивидендная бумага индекса: ~12,4% доходности, среднегодовой рост дивидендов 26% за 5 лет, перешёл на выплаты дважды в год.</a:t>
            </a:r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KEGOC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второй по дивидендной доходности, также платит дважды в год; стабильный денежный поток.</a:t>
            </a:r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Казатомпром (KZAP)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 фоне роста цен на уран ожидается увеличение дивидендов (прогноз ≈ 1 500 ₸ на акцию по итогам 2025).</a:t>
            </a:r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КазТрансОйл (KZTO)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ранее дивидендный лидер рынка, но резко снизил выплаты — отношение инвесторов ухудшилось.</a:t>
            </a:r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Kazakhtelecom, KEGOC, Halyk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обеспечивают регулярную доходность 6–10% в тенге.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Ликвидность и объёмы торгов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828800"/>
            <a:ext cx="3822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18120" y="1828800"/>
            <a:ext cx="91440" cy="137160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9" name="Text 6"/>
          <p:cNvSpPr/>
          <p:nvPr/>
        </p:nvSpPr>
        <p:spPr>
          <a:xfrm>
            <a:off x="8019288" y="1975104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19288" y="2624328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Halyk в обороте по акциям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3337560"/>
            <a:ext cx="3822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3337560"/>
            <a:ext cx="91440" cy="137160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3" name="Text 10"/>
          <p:cNvSpPr/>
          <p:nvPr/>
        </p:nvSpPr>
        <p:spPr>
          <a:xfrm>
            <a:off x="8019288" y="3483864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19288" y="4133088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оборота формируют физлица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4846320"/>
            <a:ext cx="3822192" cy="12801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8001000" y="4956048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Ликвидность сконцентрирована в нескольких голубых фишках: на топ-5 бумаг приходится большая часть оборота рынка.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080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 объёмам — сентябрь 2025 (репрезентативный месяц).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07 · ФИНАНСЫ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Профили: финансовый сектор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HSBK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Народный банк (Halyk)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банк страны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ликвидная акция (30,5% оборота)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Див. доходность ~12,4%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 дважды в год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7304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7304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4520184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0184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Kaspi.kz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0184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0184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0184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Финтех-экосистема (платежи, e-com)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капитализация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Листинг также на Nasdaq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 цифровой экономики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5968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25968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308848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CCBN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8848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ЦентрКредит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8848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08848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08848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2-я по обороту бумага рынка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Сильный рост прибыли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 дивиденды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розничный спрос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07 · СЫРЬЁ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Профили: сырьё и энергетика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6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2567178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KZAP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220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Казатомпром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лидер по урану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на фоне цен на уран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дивидендов ≈1500 ₸/акц.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Экспортная выручка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0138" y="1874520"/>
            <a:ext cx="256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0138" y="1874520"/>
            <a:ext cx="2567178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3573018" y="1984248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KMGZ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3018" y="2313432"/>
            <a:ext cx="220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КазМунайГаз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3018" y="2788920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573018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3018" y="3703320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Нефтегазовый гигант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ценам на нефть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Дивидендные выплаты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цена акции (33 065 ₸)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1874520"/>
            <a:ext cx="256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1636" y="1874520"/>
            <a:ext cx="2567178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14516" y="1984248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KEGC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4516" y="2313432"/>
            <a:ext cx="220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KEGOC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4516" y="2788920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+3%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14516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14516" y="3703320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электросетей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Защитный «дивидендный» актив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 дважды в год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денежный поток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73134" y="1874520"/>
            <a:ext cx="256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73134" y="1874520"/>
            <a:ext cx="2567178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9" name="Text 27"/>
          <p:cNvSpPr/>
          <p:nvPr/>
        </p:nvSpPr>
        <p:spPr>
          <a:xfrm>
            <a:off x="9256014" y="1984248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KZTO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56014" y="2313432"/>
            <a:ext cx="220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КазТрансОйл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56014" y="2788920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+2%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256014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56014" y="3703320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Транспортировка нефти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Резко снизил дивиденды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динамика за год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давлением настроений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07 · ТЕЛЕКОМ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Профили: телеком и транспорт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KZTK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Казахтелеком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телеком-оператор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дивиденды 6–10%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бизнес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Умеренный рост котировок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7304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7304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4520184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0184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0184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0184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0184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оператор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Входит в топ-5 по ликвидности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Дивидендные выплаты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годовая динамика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5968" y="187452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9AAB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25968" y="1874520"/>
            <a:ext cx="3514344" cy="7772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308848" y="1984248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8848" y="231343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Astana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8848" y="27889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+6%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08848" y="3291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за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08848" y="3703320"/>
            <a:ext cx="31485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авиаперевозчик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3-я по обороту бумага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2024 года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спросу на перелёты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пределами индекса: рынок в целом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874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187452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116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эмитентов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торговых списках KASE — 89 видов акций от 76 эмитентов. Помимо 10 голубых фишек индекса торгуются десятки бумаг второго эшелона.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74520"/>
            <a:ext cx="5440680" cy="1874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874520"/>
            <a:ext cx="91440" cy="187452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20116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Низкая ликвидность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55664" y="244144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большинству бумаг вне индекса объёмы малы и сделки нерегулярны — котировки могут быть неактуальны, а спред — широким.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5440680" cy="1874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59352"/>
            <a:ext cx="91440" cy="1874520"/>
          </a:xfrm>
          <a:prstGeom prst="rect">
            <a:avLst/>
          </a:prstGeom>
          <a:solidFill>
            <a:srgbClr val="17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ETF на индексы KASE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526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Запущены первые биржевые фонды на индексы KASE — простой способ вложиться сразу в корзину ликвидных акций.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3959352"/>
            <a:ext cx="5440680" cy="1874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959352"/>
            <a:ext cx="91440" cy="1874520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KASE Global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55664" y="4526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сегмент с акциями зарубежных компаний (Apple, Tesla и др.) — расширяет выбор для инвесторов в Казахстане.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0292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Факторы роста и риски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4206240"/>
          </a:xfrm>
          <a:prstGeom prst="rect">
            <a:avLst/>
          </a:prstGeom>
          <a:solidFill>
            <a:srgbClr val="EAF6EF"/>
          </a:solidFill>
          <a:ln w="12700">
            <a:solidFill>
              <a:srgbClr val="BFE3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Драйверы роста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финансовые результаты эмитентов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Высокие и растущие дивиденды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цен на сырьё (уран, нефть)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 роста ВВП Казахстана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Приток розничных инвесторов (62% оборота)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ETF и развитие KASE Global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874520"/>
            <a:ext cx="5440680" cy="4206240"/>
          </a:xfrm>
          <a:prstGeom prst="rect">
            <a:avLst/>
          </a:prstGeom>
          <a:solidFill>
            <a:srgbClr val="FBECEC"/>
          </a:solidFill>
          <a:ln w="12700">
            <a:solidFill>
              <a:srgbClr val="F0CB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ограничения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4688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 ликвидности в 5–10 бумагах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ликвидность второго эшелона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цен на сырьё и курса тенге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дивидендов отдельными эмитентами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индекса к историческим максимумам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Геополитические и внешние факторы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рынка акций KASE · 2025 – середина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164592" cy="164592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777240"/>
            <a:ext cx="164592" cy="164592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акций KASE показал сильный год: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прибавил +36% за 52 недели и обновил исторический максимум.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— банки, финтех и Казатомпром;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отстают телеком-инфраструктура и КазТрансОйл.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Дивиденды остаются ключевым преимуществом: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Halyk и KEGOC обеспечивают 10–12% доходности в тенге.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ограничения —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 ликвидности и близость к максимумам.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solidFill>
            <a:srgbClr val="16365C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864608"/>
            <a:ext cx="10058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Дисклеймер: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носит информационно-аналитический характер и не является индивидуальной инвестиционной рекомендацией. Цифры приведены на дату обзора по открытым источникам (KASE, AFK, отраслевые СМИ) и могут отличаться от актуальных. Источники: kase.kz, afk.kz, kapital.kz.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Рынок акций KASE — обзор за последний год</dc:title>
  <dc:subject>PptxGenJS Presentation</dc:subject>
  <dc:creator>Аналитический обзор</dc:creator>
  <cp:lastModifiedBy>Аналитический обзор</cp:lastModifiedBy>
  <cp:revision>1</cp:revision>
  <dcterms:created xsi:type="dcterms:W3CDTF">2026-06-18T06:56:08Z</dcterms:created>
  <dcterms:modified xsi:type="dcterms:W3CDTF">2026-06-18T06:56:08Z</dcterms:modified>
</cp:coreProperties>
</file>